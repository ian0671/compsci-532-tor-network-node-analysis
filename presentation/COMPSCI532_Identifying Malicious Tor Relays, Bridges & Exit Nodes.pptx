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0cbc0b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0cbc0b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0cbc0b5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0cbc0b5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661797206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661797206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661797206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661797206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90cbc0b5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90cbc0b5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90cbc0b5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90cbc0b5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0094631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0094631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0cbc0b5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0cbc0b5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0cbc0b5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0cbc0b5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/>
              <a:t>Identifying Malicious Tor Relays, Bridges &amp; Exit Nodes</a:t>
            </a:r>
            <a:endParaRPr sz="378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Ian Knightly, Amogh Guthur, Pradnya Apte</a:t>
            </a:r>
            <a:endParaRPr sz="2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COMPSCI 532 - Fall 2025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6800" cy="37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End-to-end pipeline built on </a:t>
            </a:r>
            <a:r>
              <a:rPr lang="en" sz="1600" b="1"/>
              <a:t>Azure Functions</a:t>
            </a:r>
            <a:r>
              <a:rPr lang="en" sz="1600"/>
              <a:t>, </a:t>
            </a:r>
            <a:r>
              <a:rPr lang="en" sz="1600" b="1"/>
              <a:t>Event Hub</a:t>
            </a:r>
            <a:r>
              <a:rPr lang="en" sz="1600"/>
              <a:t>, </a:t>
            </a:r>
            <a:r>
              <a:rPr lang="en" sz="1600" b="1"/>
              <a:t>Stream Analytics</a:t>
            </a:r>
            <a:r>
              <a:rPr lang="en" sz="1600"/>
              <a:t>, </a:t>
            </a:r>
            <a:r>
              <a:rPr lang="en" sz="1600" b="1"/>
              <a:t>Data Lake Storage</a:t>
            </a:r>
            <a:r>
              <a:rPr lang="en" sz="1600"/>
              <a:t>, and </a:t>
            </a:r>
            <a:r>
              <a:rPr lang="en" sz="1600" b="1"/>
              <a:t>Azure Machine Learning</a:t>
            </a:r>
            <a:endParaRPr sz="1600" b="1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Combines </a:t>
            </a:r>
            <a:r>
              <a:rPr lang="en" sz="1600" b="1"/>
              <a:t>Tor relay metadata</a:t>
            </a:r>
            <a:r>
              <a:rPr lang="en" sz="1600"/>
              <a:t> with multiple external threat intelligence feeds to identify potentially </a:t>
            </a:r>
            <a:r>
              <a:rPr lang="en" sz="1600" b="1"/>
              <a:t>malicious Tor relays</a:t>
            </a:r>
            <a:r>
              <a:rPr lang="en" sz="1600"/>
              <a:t>, </a:t>
            </a:r>
            <a:r>
              <a:rPr lang="en" sz="1600" b="1"/>
              <a:t>bridges</a:t>
            </a:r>
            <a:r>
              <a:rPr lang="en" sz="1600"/>
              <a:t>, and </a:t>
            </a:r>
            <a:r>
              <a:rPr lang="en" sz="1600" b="1"/>
              <a:t>exit nodes </a:t>
            </a:r>
            <a:r>
              <a:rPr lang="en" sz="1600"/>
              <a:t>using models like Random Forests and Logistic Regression</a:t>
            </a:r>
            <a:endParaRPr sz="1600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Integrates Key </a:t>
            </a:r>
            <a:r>
              <a:rPr lang="en" sz="1600" b="1"/>
              <a:t>Threat intelligence APIs</a:t>
            </a:r>
            <a:r>
              <a:rPr lang="en" sz="1600"/>
              <a:t>: VirusTotal, AbuseIPDB, GreyNoise, Censys, IPWhois, AlienVault OTX</a:t>
            </a:r>
            <a:endParaRPr sz="1600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KPIs</a:t>
            </a:r>
            <a:r>
              <a:rPr lang="en" sz="1600"/>
              <a:t>: Event Hub throughput, Stream Analytics latency, Function runtimes, Data Lake storage efficiency, AML drift metrics.</a:t>
            </a:r>
            <a:endParaRPr sz="1600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Engineers meaningful features (</a:t>
            </a:r>
            <a:r>
              <a:rPr lang="en" sz="1600" b="1"/>
              <a:t>abuse scores, ips, geolocation, churn, exit policy anomalies</a:t>
            </a:r>
            <a:r>
              <a:rPr lang="en" sz="1600"/>
              <a:t>, etc.) from a variety of data sources</a:t>
            </a:r>
            <a:endParaRPr sz="1600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Architecture is in Azure built using scalable and modular cloud components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162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 - Part 2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12472"/>
          <a:stretch/>
        </p:blipFill>
        <p:spPr>
          <a:xfrm>
            <a:off x="149813" y="871575"/>
            <a:ext cx="8844375" cy="36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220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 - Part 3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75" y="1365650"/>
            <a:ext cx="8708451" cy="33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21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 - Part 4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275" y="966000"/>
            <a:ext cx="4609992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600" y="833388"/>
            <a:ext cx="3006431" cy="418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Sanity Checks on Each Azure Function:</a:t>
            </a:r>
            <a:r>
              <a:rPr lang="en" sz="1600"/>
              <a:t> Verified each Azure Function returned valid JSON from TI APIs and matched expected enrichment fields (scores, geolocation, CVE flags) before sending to Event Hub</a:t>
            </a:r>
            <a:endParaRPr sz="1600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Pipeline Behavior Checks:</a:t>
            </a:r>
            <a:r>
              <a:rPr lang="en" sz="1600"/>
              <a:t> Observed predictable scaling (larger daily pulls → longer processing time). Verified that Stream Analytics correctly joined tables (Tor data + enrichment data) by checking joined rows in Data Lake</a:t>
            </a:r>
            <a:endParaRPr sz="1600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Unit-Level Logic Tests:</a:t>
            </a:r>
            <a:r>
              <a:rPr lang="en" sz="1600"/>
              <a:t> Ensured each function handled time-based triggers, API failures, and retries without crashing. Validated caching and rate-limit behavior for APIs such as VirusTotal, AbuseIPDB, and AlienVault OTX</a:t>
            </a:r>
            <a:endParaRPr sz="1600"/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Model Checks:</a:t>
            </a:r>
            <a:r>
              <a:rPr lang="en" sz="1600"/>
              <a:t> Confirmed preliminary classifier produced expected label distributions (benign / suspicious / unknown).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202950" y="17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r="9057"/>
          <a:stretch/>
        </p:blipFill>
        <p:spPr>
          <a:xfrm>
            <a:off x="0" y="745850"/>
            <a:ext cx="4571993" cy="23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 rotWithShape="1">
          <a:blip r:embed="rId4">
            <a:alphaModFix/>
          </a:blip>
          <a:srcRect r="9107"/>
          <a:stretch/>
        </p:blipFill>
        <p:spPr>
          <a:xfrm>
            <a:off x="4572000" y="2826221"/>
            <a:ext cx="4572001" cy="2317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50" y="1248138"/>
            <a:ext cx="8839201" cy="288646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202950" y="17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 - Part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Data ingested from all threat-intelligence sources (Tor descriptors, AbuseIPDB, Censys, VirusTotal, AlienVault OTX) via Azure Functions to Event Hubs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Azure Stream Analytics jobs configured and processing all incoming data streams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All processed data stored in Azure Data Lake Storage Gen2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ADLS Gen2 containers mounted as data stores in Azure Machine Learning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Diagnostics from Azure Functions, Event Hubs, Stream Analytics, and ADLS routed to Log Analytics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Tor Bulk Exit Lists and Bandwidth Files added to Tor ingestion pipeline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Multi-source join of Tor, Censys, and AbuseIPDB data in Azure Stream Analytics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COMPLETE</a:t>
            </a:r>
            <a:r>
              <a:rPr lang="en" sz="1600"/>
              <a:t> - Machine-learning model created and deployed in Azure ML Designer</a:t>
            </a:r>
            <a:endParaRPr sz="1600"/>
          </a:p>
        </p:txBody>
      </p:sp>
      <p:sp>
        <p:nvSpPr>
          <p:cNvPr id="106" name="Google Shape;106;p21"/>
          <p:cNvSpPr txBox="1"/>
          <p:nvPr/>
        </p:nvSpPr>
        <p:spPr>
          <a:xfrm>
            <a:off x="4217975" y="4618600"/>
            <a:ext cx="47343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 updated goals approved Piazza @194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Incomplete Goals and Possible Improvements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276725" y="968750"/>
            <a:ext cx="8520600" cy="3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Possible Improvements</a:t>
            </a:r>
            <a:endParaRPr sz="6400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6800"/>
              <a:t>Add more threat intelligence sources (GreyNoise, EPSS, CISA KEV, MaxMind) to enhance classification accuracy</a:t>
            </a:r>
            <a:endParaRPr sz="68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800"/>
              <a:t>Implement model drift detection in Azure ML to monitor classifier performance over time</a:t>
            </a:r>
            <a:endParaRPr sz="68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800"/>
              <a:t>Add real-time alerting via Azure Logic Apps when high-confidence malicious nodes are detected</a:t>
            </a:r>
            <a:endParaRPr sz="68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800"/>
              <a:t>Create an interactive Power BI dashboard for visualizing threat intelligence trends and model predictions</a:t>
            </a:r>
            <a:endParaRPr sz="68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800"/>
              <a:t>Implement incremental training to update the ML model as new labeled data becomes available</a:t>
            </a:r>
            <a:endParaRPr sz="68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800"/>
              <a:t>Implement A/B testing framework to compare different ML models (Random Forest vs XGBoost vs DNN)</a:t>
            </a:r>
            <a:endParaRPr sz="68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800"/>
              <a:t>Add historical churn analysis to detect relays that frequently appear and disappear</a:t>
            </a:r>
            <a:endParaRPr sz="68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68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53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On-screen Show (16:9)</PresentationFormat>
  <Paragraphs>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Identifying Malicious Tor Relays, Bridges &amp; Exit Nodes</vt:lpstr>
      <vt:lpstr>Design Description</vt:lpstr>
      <vt:lpstr>Design Description - Part 2</vt:lpstr>
      <vt:lpstr>Design Description - Part 3</vt:lpstr>
      <vt:lpstr>Design Description - Part 4</vt:lpstr>
      <vt:lpstr>Tests</vt:lpstr>
      <vt:lpstr>Experimental Results</vt:lpstr>
      <vt:lpstr>Experimental Results - Part 2</vt:lpstr>
      <vt:lpstr>Goals</vt:lpstr>
      <vt:lpstr>Incomplete Goals and Possible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Ian Knightly</cp:lastModifiedBy>
  <cp:revision>1</cp:revision>
  <dcterms:modified xsi:type="dcterms:W3CDTF">2025-12-06T00:40:03Z</dcterms:modified>
</cp:coreProperties>
</file>